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0000000000000000000"/>
      <p:regular r:id="rId12"/>
    </p:embeddedFont>
    <p:embeddedFont>
      <p:font typeface="Bebas Neue Cyrillic" charset="1" panose="02000506000000020004"/>
      <p:regular r:id="rId13"/>
    </p:embeddedFont>
    <p:embeddedFont>
      <p:font typeface="Canva Sans Bold" charset="1" panose="020B0803030501040103"/>
      <p:regular r:id="rId14"/>
    </p:embeddedFont>
    <p:embeddedFont>
      <p:font typeface="Canva Sans" charset="1" panose="020B0503030501040103"/>
      <p:regular r:id="rId15"/>
    </p:embeddedFont>
    <p:embeddedFont>
      <p:font typeface="Open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VAGmC32JoMY.mp4" Type="http://schemas.openxmlformats.org/officeDocument/2006/relationships/video"/><Relationship Id="rId4" Target="../media/VAGmC32JoMY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VAGmC7O25MM.mp4" Type="http://schemas.openxmlformats.org/officeDocument/2006/relationships/video"/><Relationship Id="rId4" Target="../media/VAGmC7O25MM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VAGmCy6h5p0.mp4" Type="http://schemas.openxmlformats.org/officeDocument/2006/relationships/video"/><Relationship Id="rId4" Target="../media/VAGmCy6h5p0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16542" y="0"/>
            <a:ext cx="11973736" cy="10287000"/>
            <a:chOff x="0" y="0"/>
            <a:chExt cx="315357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535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3153577">
                  <a:moveTo>
                    <a:pt x="0" y="0"/>
                  </a:moveTo>
                  <a:lnTo>
                    <a:pt x="3153577" y="0"/>
                  </a:lnTo>
                  <a:lnTo>
                    <a:pt x="315357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1F3291">
                    <a:alpha val="0"/>
                  </a:srgbClr>
                </a:gs>
                <a:gs pos="100000">
                  <a:srgbClr val="00093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5357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11289" y="2894637"/>
            <a:ext cx="8448011" cy="2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0"/>
              </a:lnSpc>
              <a:spcBef>
                <a:spcPct val="0"/>
              </a:spcBef>
            </a:pPr>
            <a:r>
              <a:rPr lang="en-US" sz="14064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Artificial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11289" y="4530027"/>
            <a:ext cx="8681006" cy="2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0"/>
              </a:lnSpc>
              <a:spcBef>
                <a:spcPct val="0"/>
              </a:spcBef>
            </a:pPr>
            <a:r>
              <a:rPr lang="en-US" sz="14064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Intelligence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11289" y="2399337"/>
            <a:ext cx="504985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Assignment-3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11289" y="6859341"/>
            <a:ext cx="9024987" cy="125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96"/>
              </a:lnSpc>
            </a:pPr>
            <a:r>
              <a:rPr lang="en-US" sz="3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Shankheshkumar Ambaliya (CS22B005)</a:t>
            </a:r>
          </a:p>
          <a:p>
            <a:pPr algn="just">
              <a:lnSpc>
                <a:spcPts val="5096"/>
              </a:lnSpc>
            </a:pPr>
            <a:r>
              <a:rPr lang="en-US" b="true" sz="364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Aakarsh Bansal (CS22B001)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9057" y="2598469"/>
            <a:ext cx="15192355" cy="92481"/>
            <a:chOff x="0" y="0"/>
            <a:chExt cx="4001279" cy="243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1279" cy="24357"/>
            </a:xfrm>
            <a:custGeom>
              <a:avLst/>
              <a:gdLst/>
              <a:ahLst/>
              <a:cxnLst/>
              <a:rect r="r" b="b" t="t" l="l"/>
              <a:pathLst>
                <a:path h="24357" w="4001279">
                  <a:moveTo>
                    <a:pt x="0" y="0"/>
                  </a:moveTo>
                  <a:lnTo>
                    <a:pt x="4001279" y="0"/>
                  </a:lnTo>
                  <a:lnTo>
                    <a:pt x="4001279" y="24357"/>
                  </a:lnTo>
                  <a:lnTo>
                    <a:pt x="0" y="24357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01279" cy="62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229057" y="3415045"/>
          <a:ext cx="15690246" cy="5394150"/>
        </p:xfrm>
        <a:graphic>
          <a:graphicData uri="http://schemas.openxmlformats.org/drawingml/2006/table">
            <a:tbl>
              <a:tblPr/>
              <a:tblGrid>
                <a:gridCol w="3418577"/>
                <a:gridCol w="12271668"/>
              </a:tblGrid>
              <a:tr h="9209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5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Material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Base scoring using standard piece values (Q=9, R=5, B=3.1, etc.)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40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Rewards positions with more legal moves (i.e., more active pieces)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9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Center Control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Adds small bonuses for occupying central squares D4, D5, E4, E5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7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Terminal State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Checkmate = ±∞, Draw = 0 (ensures terminal positions are handled well)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9057" y="1436134"/>
            <a:ext cx="15690246" cy="99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3"/>
              </a:lnSpc>
            </a:pPr>
            <a:r>
              <a:rPr lang="en-US" sz="738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Breakdown of Heuristic Components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492295" y="9568113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52525"/>
            <a:ext cx="16030243" cy="99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3"/>
              </a:lnSpc>
            </a:pPr>
            <a:r>
              <a:rPr lang="en-US" sz="738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Reasons Behind Evaluation Working well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149993"/>
            <a:ext cx="16030243" cy="47625"/>
            <a:chOff x="0" y="0"/>
            <a:chExt cx="4221957" cy="12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21957" cy="12543"/>
            </a:xfrm>
            <a:custGeom>
              <a:avLst/>
              <a:gdLst/>
              <a:ahLst/>
              <a:cxnLst/>
              <a:rect r="r" b="b" t="t" l="l"/>
              <a:pathLst>
                <a:path h="12543" w="4221957">
                  <a:moveTo>
                    <a:pt x="0" y="0"/>
                  </a:moveTo>
                  <a:lnTo>
                    <a:pt x="4221957" y="0"/>
                  </a:lnTo>
                  <a:lnTo>
                    <a:pt x="4221957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21957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584433"/>
            <a:ext cx="14493992" cy="647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9476" indent="-35973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Material advantage directly contributes to winning potential.</a:t>
            </a:r>
          </a:p>
          <a:p>
            <a:pPr algn="l" marL="719476" indent="-35973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Mobility rewards flexibility and active piece development, discouraging cramped positions.</a:t>
            </a:r>
          </a:p>
          <a:p>
            <a:pPr algn="l" marL="719476" indent="-35973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Center control reflects positional advantage, especially useful in early/mid-game.</a:t>
            </a:r>
          </a:p>
          <a:p>
            <a:pPr algn="l" marL="719476" indent="-35973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Combined with Alpha-Beta Pruning, it allows deeper searches while still using the same heuristic.</a:t>
            </a:r>
          </a:p>
          <a:p>
            <a:pPr algn="l" marL="719476" indent="-359738" lvl="1">
              <a:lnSpc>
                <a:spcPts val="466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3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Alpha-Beta Pruning improves Minimax by eliminating branches that cannot influence the final decision, resulting in faster decision-making without changing the outcome.</a:t>
            </a:r>
          </a:p>
          <a:p>
            <a:pPr algn="l">
              <a:lnSpc>
                <a:spcPts val="46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81323" y="2985485"/>
            <a:ext cx="1757694" cy="47625"/>
            <a:chOff x="0" y="0"/>
            <a:chExt cx="462932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932" cy="12543"/>
            </a:xfrm>
            <a:custGeom>
              <a:avLst/>
              <a:gdLst/>
              <a:ahLst/>
              <a:cxnLst/>
              <a:rect r="r" b="b" t="t" l="l"/>
              <a:pathLst>
                <a:path h="12543" w="462932">
                  <a:moveTo>
                    <a:pt x="0" y="0"/>
                  </a:moveTo>
                  <a:lnTo>
                    <a:pt x="462932" y="0"/>
                  </a:lnTo>
                  <a:lnTo>
                    <a:pt x="462932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29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111032" y="726147"/>
            <a:ext cx="8834707" cy="8834707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492295" y="9568113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1323" y="1881929"/>
            <a:ext cx="5229709" cy="99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3"/>
              </a:lnSpc>
            </a:pPr>
            <a:r>
              <a:rPr lang="en-US" sz="738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MiniMax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2967" y="2947385"/>
            <a:ext cx="3005237" cy="47625"/>
            <a:chOff x="0" y="0"/>
            <a:chExt cx="791503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1503" cy="12543"/>
            </a:xfrm>
            <a:custGeom>
              <a:avLst/>
              <a:gdLst/>
              <a:ahLst/>
              <a:cxnLst/>
              <a:rect r="r" b="b" t="t" l="l"/>
              <a:pathLst>
                <a:path h="12543" w="791503">
                  <a:moveTo>
                    <a:pt x="0" y="0"/>
                  </a:moveTo>
                  <a:lnTo>
                    <a:pt x="791503" y="0"/>
                  </a:lnTo>
                  <a:lnTo>
                    <a:pt x="791503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91503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430341" y="671275"/>
            <a:ext cx="8944450" cy="894445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492295" y="9568113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2967" y="1881929"/>
            <a:ext cx="5229709" cy="99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3"/>
              </a:lnSpc>
            </a:pPr>
            <a:r>
              <a:rPr lang="en-US" sz="738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Alpha-Beta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65817" y="4412892"/>
            <a:ext cx="1559768" cy="49121"/>
            <a:chOff x="0" y="0"/>
            <a:chExt cx="410803" cy="129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0803" cy="12937"/>
            </a:xfrm>
            <a:custGeom>
              <a:avLst/>
              <a:gdLst/>
              <a:ahLst/>
              <a:cxnLst/>
              <a:rect r="r" b="b" t="t" l="l"/>
              <a:pathLst>
                <a:path h="12937" w="410803">
                  <a:moveTo>
                    <a:pt x="0" y="0"/>
                  </a:moveTo>
                  <a:lnTo>
                    <a:pt x="410803" y="0"/>
                  </a:lnTo>
                  <a:lnTo>
                    <a:pt x="410803" y="12937"/>
                  </a:lnTo>
                  <a:lnTo>
                    <a:pt x="0" y="12937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10803" cy="51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65817" y="3318860"/>
            <a:ext cx="5229709" cy="99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3"/>
              </a:lnSpc>
            </a:pPr>
            <a:r>
              <a:rPr lang="en-US" sz="738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Pruning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6465" y="1502965"/>
            <a:ext cx="2841625" cy="47625"/>
            <a:chOff x="0" y="0"/>
            <a:chExt cx="748411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8411" cy="12543"/>
            </a:xfrm>
            <a:custGeom>
              <a:avLst/>
              <a:gdLst/>
              <a:ahLst/>
              <a:cxnLst/>
              <a:rect r="r" b="b" t="t" l="l"/>
              <a:pathLst>
                <a:path h="12543" w="748411">
                  <a:moveTo>
                    <a:pt x="0" y="0"/>
                  </a:moveTo>
                  <a:lnTo>
                    <a:pt x="748411" y="0"/>
                  </a:lnTo>
                  <a:lnTo>
                    <a:pt x="748411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841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341626" y="1862232"/>
            <a:ext cx="13604749" cy="7734457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492295" y="9568113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6465" y="515022"/>
            <a:ext cx="8324784" cy="99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3"/>
              </a:lnSpc>
            </a:pPr>
            <a:r>
              <a:rPr lang="en-US" sz="738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Running Code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DAGmC61_H94</dc:identifier>
  <dcterms:modified xsi:type="dcterms:W3CDTF">2011-08-01T06:04:30Z</dcterms:modified>
  <cp:revision>1</cp:revision>
  <dc:title>AI Assignment-3</dc:title>
</cp:coreProperties>
</file>